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rmand Szokoly  (VN450W)…"/>
          <p:cNvSpPr txBox="1"/>
          <p:nvPr>
            <p:ph type="body" idx="21"/>
          </p:nvPr>
        </p:nvSpPr>
        <p:spPr>
          <a:xfrm>
            <a:off x="1286617" y="7584490"/>
            <a:ext cx="21971002" cy="19279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algn="ctr" defTabSz="734694">
              <a:defRPr sz="3916"/>
            </a:pPr>
            <a:r>
              <a:t>Armand Szokoly  </a:t>
            </a:r>
            <a:r>
              <a:rPr b="0" i="1"/>
              <a:t>(VN450W)</a:t>
            </a:r>
            <a:endParaRPr b="0" i="1"/>
          </a:p>
          <a:p>
            <a:pPr algn="ctr" defTabSz="734694">
              <a:defRPr sz="3916"/>
            </a:pPr>
            <a:r>
              <a:t>Balázs Kiss          </a:t>
            </a:r>
            <a:r>
              <a:rPr b="0" i="1"/>
              <a:t>(NXG36N)</a:t>
            </a:r>
            <a:endParaRPr b="0" i="1"/>
          </a:p>
          <a:p>
            <a:pPr algn="ctr" defTabSz="734694">
              <a:defRPr sz="3916"/>
            </a:pPr>
            <a:r>
              <a:rPr b="0" i="1"/>
              <a:t> </a:t>
            </a:r>
            <a:r>
              <a:t>Lőrinc Toldi</a:t>
            </a:r>
            <a:r>
              <a:rPr b="0" i="1"/>
              <a:t>          (DORAU5)</a:t>
            </a:r>
          </a:p>
        </p:txBody>
      </p:sp>
      <p:sp>
        <p:nvSpPr>
          <p:cNvPr id="172" name="Házi feladat bemutatás"/>
          <p:cNvSpPr txBox="1"/>
          <p:nvPr>
            <p:ph type="ctrTitle"/>
          </p:nvPr>
        </p:nvSpPr>
        <p:spPr>
          <a:xfrm>
            <a:off x="1206498" y="1483309"/>
            <a:ext cx="21971004" cy="4648201"/>
          </a:xfrm>
          <a:prstGeom prst="rect">
            <a:avLst/>
          </a:prstGeom>
        </p:spPr>
        <p:txBody>
          <a:bodyPr/>
          <a:lstStyle>
            <a:lvl1pPr algn="ctr">
              <a:defRPr spc="-226" sz="11300"/>
            </a:lvl1pPr>
          </a:lstStyle>
          <a:p>
            <a:pPr/>
            <a:r>
              <a:t>Házi feladat bemutatás</a:t>
            </a:r>
          </a:p>
        </p:txBody>
      </p:sp>
      <p:sp>
        <p:nvSpPr>
          <p:cNvPr id="173" name="Sigmoid Squad"/>
          <p:cNvSpPr txBox="1"/>
          <p:nvPr>
            <p:ph type="subTitle" sz="quarter" idx="1"/>
          </p:nvPr>
        </p:nvSpPr>
        <p:spPr>
          <a:xfrm>
            <a:off x="1206500" y="6286679"/>
            <a:ext cx="21971000" cy="1142642"/>
          </a:xfrm>
          <a:prstGeom prst="rect">
            <a:avLst/>
          </a:prstGeom>
        </p:spPr>
        <p:txBody>
          <a:bodyPr/>
          <a:lstStyle>
            <a:lvl1pPr algn="ctr">
              <a:defRPr sz="6600"/>
            </a:lvl1pPr>
          </a:lstStyle>
          <a:p>
            <a:pPr/>
            <a:r>
              <a:t>Sigmoid Squad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Bevezetés, célkitűzések, motiváció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Bevezetés, célkitűzések, motiváció</a:t>
            </a:r>
          </a:p>
        </p:txBody>
      </p:sp>
      <p:sp>
        <p:nvSpPr>
          <p:cNvPr id="176" name="hajók automatikus detektálása műholdképeken…"/>
          <p:cNvSpPr txBox="1"/>
          <p:nvPr>
            <p:ph type="body" sz="half" idx="1"/>
          </p:nvPr>
        </p:nvSpPr>
        <p:spPr>
          <a:xfrm>
            <a:off x="595875" y="3947062"/>
            <a:ext cx="11264372" cy="6000619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000"/>
            </a:pPr>
            <a:r>
              <a:t>hajók automatikus detektálása műholdképeken</a:t>
            </a:r>
          </a:p>
          <a:p>
            <a:pPr marL="609599" indent="-609599">
              <a:defRPr sz="4000"/>
            </a:pPr>
            <a:r>
              <a:t>tengeri megfigyelés, logisztika, biztonság</a:t>
            </a:r>
          </a:p>
          <a:p>
            <a:pPr marL="609599" indent="-609599">
              <a:defRPr sz="4000"/>
            </a:pPr>
            <a:r>
              <a:t>különböző szegmentációs megközelítések összehasonlítása</a:t>
            </a:r>
          </a:p>
          <a:p>
            <a:pPr marL="609599" indent="-609599">
              <a:defRPr sz="4000"/>
            </a:pPr>
            <a:r>
              <a:t>valós, nagy méretű ipari adatbázison való tapasztalatszerzés</a:t>
            </a:r>
          </a:p>
        </p:txBody>
      </p:sp>
      <p:pic>
        <p:nvPicPr>
          <p:cNvPr id="177" name="Screenshot 2025-12-13 at 19.53.24.png" descr="Screenshot 2025-12-13 at 19.53.2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23753" y="3768319"/>
            <a:ext cx="11264371" cy="58025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Korábbi megoldások, előnyeik, hátrányaik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Korábbi megoldások, előnyeik, hátrányaik</a:t>
            </a:r>
          </a:p>
        </p:txBody>
      </p:sp>
      <p:graphicFrame>
        <p:nvGraphicFramePr>
          <p:cNvPr id="180" name="Table 1"/>
          <p:cNvGraphicFramePr/>
          <p:nvPr/>
        </p:nvGraphicFramePr>
        <p:xfrm>
          <a:off x="766706" y="2736344"/>
          <a:ext cx="23353812" cy="8256012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89503"/>
                <a:gridCol w="3593393"/>
                <a:gridCol w="3581102"/>
                <a:gridCol w="4178823"/>
                <a:gridCol w="4198965"/>
                <a:gridCol w="4308800"/>
              </a:tblGrid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klasszikus képfeldolgozás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hagyományos gépi tanulás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CNN-alapú objektumdetektálás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szemantikus szegmentáció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instance szegmentáció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</a:tr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működés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küszöbölés, éldetektálás, …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kézi feature-ök 
+ klasszifikátor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bounding box alapú megoldások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pixel-szintű osztályozás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objektum és maszk alapú megközelítés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előnyök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Egyszerű és gyors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alacsony számítási igény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objektumszintű felismerés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jó alak és pozíciófelismerés osztályszinten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objektumok pontos elkülönítése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06082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hátrányok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érzékenység zajra, kontrasztra, megvilágosításra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gyenge teljesítmény komplex mintázatokon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pontatlan objektumalakok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azonos osztályú objektumok összefolynak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nagy számítási igény,  adatminőségre érzékenység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ndszerterv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Rendszerterv</a:t>
            </a:r>
          </a:p>
        </p:txBody>
      </p:sp>
      <p:sp>
        <p:nvSpPr>
          <p:cNvPr id="183" name="teljes feldolgozási pipeline kialakítása…"/>
          <p:cNvSpPr txBox="1"/>
          <p:nvPr>
            <p:ph type="body" idx="1"/>
          </p:nvPr>
        </p:nvSpPr>
        <p:spPr>
          <a:xfrm>
            <a:off x="867306" y="2729994"/>
            <a:ext cx="21971001" cy="8256012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000"/>
            </a:pPr>
            <a:r>
              <a:t>teljes feldolgozási pipeline kialakítása</a:t>
            </a:r>
          </a:p>
          <a:p>
            <a:pPr marL="609599" indent="-609599">
              <a:defRPr sz="4000"/>
            </a:pPr>
            <a:r>
              <a:t>adatletöltés és validáció</a:t>
            </a:r>
          </a:p>
          <a:p>
            <a:pPr marL="609599" indent="-609599">
              <a:defRPr sz="4000"/>
            </a:pPr>
            <a:r>
              <a:t>annotációk tisztítása</a:t>
            </a:r>
          </a:p>
          <a:p>
            <a:pPr marL="609599" indent="-609599">
              <a:defRPr sz="4000"/>
            </a:pPr>
            <a:r>
              <a:t>előfeldolgozás</a:t>
            </a:r>
          </a:p>
          <a:p>
            <a:pPr lvl="1" marL="1117600" indent="-508000">
              <a:buSzPct val="40000"/>
              <a:buBlip>
                <a:blip r:embed="rId3"/>
              </a:buBlip>
              <a:defRPr sz="4000"/>
            </a:pPr>
            <a:r>
              <a:t> képek átméretezése</a:t>
            </a:r>
          </a:p>
          <a:p>
            <a:pPr lvl="1" marL="1117600" indent="-508000">
              <a:buSzPct val="40000"/>
              <a:buBlip>
                <a:blip r:embed="rId3"/>
              </a:buBlip>
              <a:defRPr sz="4000"/>
            </a:pPr>
            <a:r>
              <a:t>kiegyensúlyozott mintavételezés</a:t>
            </a:r>
          </a:p>
          <a:p>
            <a:pPr marL="609599" indent="-609599">
              <a:defRPr sz="4000"/>
            </a:pPr>
            <a:r>
              <a:t>modellek tanítása és összehangolása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Adatbázis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Adatbázis</a:t>
            </a:r>
          </a:p>
        </p:txBody>
      </p:sp>
      <p:sp>
        <p:nvSpPr>
          <p:cNvPr id="186" name="Airbus Ship Detection dataset…"/>
          <p:cNvSpPr txBox="1"/>
          <p:nvPr>
            <p:ph type="body" sz="half" idx="1"/>
          </p:nvPr>
        </p:nvSpPr>
        <p:spPr>
          <a:xfrm>
            <a:off x="867306" y="2729994"/>
            <a:ext cx="11532298" cy="8782915"/>
          </a:xfrm>
          <a:prstGeom prst="rect">
            <a:avLst/>
          </a:prstGeom>
        </p:spPr>
        <p:txBody>
          <a:bodyPr/>
          <a:lstStyle/>
          <a:p>
            <a:pPr marL="323088" indent="-323088" defTabSz="1292319">
              <a:spcBef>
                <a:spcPts val="2300"/>
              </a:spcBef>
              <a:defRPr sz="3603"/>
            </a:pPr>
            <a:r>
              <a:t>Airbus Ship Detection dataset</a:t>
            </a:r>
          </a:p>
          <a:p>
            <a:pPr marL="323088" indent="-323088" defTabSz="1292319">
              <a:spcBef>
                <a:spcPts val="2300"/>
              </a:spcBef>
              <a:defRPr sz="3603"/>
            </a:pPr>
            <a:r>
              <a:rPr i="1"/>
              <a:t>768x768</a:t>
            </a:r>
            <a:r>
              <a:t> RGB műholdképek</a:t>
            </a:r>
          </a:p>
          <a:p>
            <a:pPr marL="323088" indent="-323088" defTabSz="1292319">
              <a:spcBef>
                <a:spcPts val="2300"/>
              </a:spcBef>
              <a:defRPr sz="3603"/>
            </a:pPr>
            <a:r>
              <a:t>Run-Length Encoded mask-ok</a:t>
            </a:r>
            <a:br/>
          </a:p>
          <a:p>
            <a:pPr marL="323088" indent="-323088" defTabSz="1292319">
              <a:spcBef>
                <a:spcPts val="2300"/>
              </a:spcBef>
              <a:defRPr sz="3603"/>
            </a:pPr>
            <a:r>
              <a:t>problémák</a:t>
            </a:r>
          </a:p>
          <a:p>
            <a:pPr lvl="1" marL="646175" indent="-323087" defTabSz="1292319">
              <a:spcBef>
                <a:spcPts val="2300"/>
              </a:spcBef>
              <a:defRPr sz="3603"/>
            </a:pPr>
            <a:r>
              <a:t>összefüggéstelen alakzatok egy maszkon belül</a:t>
            </a:r>
          </a:p>
          <a:p>
            <a:pPr lvl="1" marL="646175" indent="-323087" defTabSz="1292319">
              <a:spcBef>
                <a:spcPts val="2300"/>
              </a:spcBef>
              <a:defRPr sz="3603"/>
            </a:pPr>
            <a:r>
              <a:t>túl kicsi, zajos annotáció</a:t>
            </a:r>
            <a:br/>
          </a:p>
          <a:p>
            <a:pPr marL="323088" indent="-323088" defTabSz="1292319">
              <a:spcBef>
                <a:spcPts val="2300"/>
              </a:spcBef>
              <a:defRPr sz="3603"/>
            </a:pPr>
            <a:r>
              <a:t>tisztítási lépések</a:t>
            </a:r>
          </a:p>
          <a:p>
            <a:pPr lvl="1" marL="646175" indent="-323087" defTabSz="1292319">
              <a:spcBef>
                <a:spcPts val="2300"/>
              </a:spcBef>
              <a:defRPr sz="3603"/>
            </a:pPr>
            <a:r>
              <a:t>kapcsolat alakzatok elemzése</a:t>
            </a:r>
          </a:p>
          <a:p>
            <a:pPr lvl="1" marL="646175" indent="-323087" defTabSz="1292319">
              <a:spcBef>
                <a:spcPts val="2300"/>
              </a:spcBef>
              <a:defRPr sz="3603"/>
            </a:pPr>
            <a:r>
              <a:t>legnagyobb alakzatok megtartása</a:t>
            </a:r>
          </a:p>
          <a:p>
            <a:pPr lvl="1" marL="646175" indent="-323087" defTabSz="1292319">
              <a:spcBef>
                <a:spcPts val="2300"/>
              </a:spcBef>
              <a:defRPr sz="3603"/>
            </a:pPr>
            <a:r>
              <a:t>átfedés vizsgálata</a:t>
            </a:r>
          </a:p>
        </p:txBody>
      </p:sp>
      <p:pic>
        <p:nvPicPr>
          <p:cNvPr id="187" name="0006c52e8.jpg" descr="0006c52e8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463880" y="2050486"/>
            <a:ext cx="5479323" cy="5479323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88" name="Screenshot 2025-12-13 at 19.57.12.png" descr="Screenshot 2025-12-13 at 19.57.1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674639" y="6063004"/>
            <a:ext cx="5479323" cy="612941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89" name="Screenshot 2025-12-13 at 19.58.01.png" descr="Screenshot 2025-12-13 at 19.58.01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934000" y="6637177"/>
            <a:ext cx="4269942" cy="423831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Architektúra"/>
          <p:cNvSpPr txBox="1"/>
          <p:nvPr>
            <p:ph type="body" idx="21"/>
          </p:nvPr>
        </p:nvSpPr>
        <p:spPr>
          <a:xfrm>
            <a:off x="1206500" y="2855562"/>
            <a:ext cx="515501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600"/>
            </a:lvl1pPr>
          </a:lstStyle>
          <a:p>
            <a:pPr/>
            <a:r>
              <a:t>Architektúra</a:t>
            </a:r>
          </a:p>
        </p:txBody>
      </p:sp>
      <p:sp>
        <p:nvSpPr>
          <p:cNvPr id="192" name="model: U-Net…"/>
          <p:cNvSpPr txBox="1"/>
          <p:nvPr>
            <p:ph type="body" sz="quarter" idx="1"/>
          </p:nvPr>
        </p:nvSpPr>
        <p:spPr>
          <a:xfrm>
            <a:off x="1206500" y="3765904"/>
            <a:ext cx="8140204" cy="1433164"/>
          </a:xfrm>
          <a:prstGeom prst="rect">
            <a:avLst/>
          </a:prstGeom>
        </p:spPr>
        <p:txBody>
          <a:bodyPr/>
          <a:lstStyle/>
          <a:p>
            <a:pPr marL="597408" indent="-597408" defTabSz="2389572">
              <a:lnSpc>
                <a:spcPct val="100000"/>
              </a:lnSpc>
              <a:spcBef>
                <a:spcPts val="900"/>
              </a:spcBef>
              <a:defRPr sz="3528"/>
            </a:pPr>
            <a:r>
              <a:rPr i="1"/>
              <a:t>model</a:t>
            </a:r>
            <a:r>
              <a:t>: U-Net</a:t>
            </a:r>
          </a:p>
          <a:p>
            <a:pPr marL="597408" indent="-597408" defTabSz="2389572">
              <a:lnSpc>
                <a:spcPct val="100000"/>
              </a:lnSpc>
              <a:spcBef>
                <a:spcPts val="900"/>
              </a:spcBef>
              <a:defRPr sz="3528"/>
            </a:pPr>
            <a:r>
              <a:rPr i="1"/>
              <a:t>kimenet</a:t>
            </a:r>
            <a:r>
              <a:t>: bináris valószínűségi maszk</a:t>
            </a:r>
          </a:p>
        </p:txBody>
      </p:sp>
      <p:sp>
        <p:nvSpPr>
          <p:cNvPr id="193" name="Architektúra, tanítás, nehézségek és megoldásuk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Architektúra, tanítás, nehézségek és megoldásuk</a:t>
            </a:r>
          </a:p>
        </p:txBody>
      </p:sp>
      <p:sp>
        <p:nvSpPr>
          <p:cNvPr id="194" name="Tanítás"/>
          <p:cNvSpPr txBox="1"/>
          <p:nvPr/>
        </p:nvSpPr>
        <p:spPr>
          <a:xfrm>
            <a:off x="1206500" y="6911852"/>
            <a:ext cx="515501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600"/>
            </a:lvl1pPr>
          </a:lstStyle>
          <a:p>
            <a:pPr/>
            <a:r>
              <a:t>Tanítás</a:t>
            </a:r>
          </a:p>
        </p:txBody>
      </p:sp>
      <p:sp>
        <p:nvSpPr>
          <p:cNvPr id="195" name="Adam optimalizáció…"/>
          <p:cNvSpPr txBox="1"/>
          <p:nvPr/>
        </p:nvSpPr>
        <p:spPr>
          <a:xfrm>
            <a:off x="1206500" y="7822193"/>
            <a:ext cx="8140204" cy="3161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Adam optimalizáció</a:t>
            </a:r>
          </a:p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Binary Cross Entropy + Dice</a:t>
            </a:r>
          </a:p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kiegyensúlyozott tanítóhalmaz</a:t>
            </a:r>
          </a:p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kiértékelés: IoU, F2 Score</a:t>
            </a:r>
          </a:p>
        </p:txBody>
      </p:sp>
      <p:sp>
        <p:nvSpPr>
          <p:cNvPr id="196" name="Hiperparaméter optimalizáció"/>
          <p:cNvSpPr txBox="1"/>
          <p:nvPr/>
        </p:nvSpPr>
        <p:spPr>
          <a:xfrm>
            <a:off x="14033500" y="2982562"/>
            <a:ext cx="9158288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600"/>
            </a:lvl1pPr>
          </a:lstStyle>
          <a:p>
            <a:pPr/>
            <a:r>
              <a:t>Hiperparaméter optimalizáció</a:t>
            </a:r>
          </a:p>
        </p:txBody>
      </p:sp>
      <p:sp>
        <p:nvSpPr>
          <p:cNvPr id="197" name="batch size…"/>
          <p:cNvSpPr txBox="1"/>
          <p:nvPr/>
        </p:nvSpPr>
        <p:spPr>
          <a:xfrm>
            <a:off x="14033500" y="3892904"/>
            <a:ext cx="8140204" cy="234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batch size</a:t>
            </a:r>
          </a:p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képek mérete</a:t>
            </a:r>
          </a:p>
        </p:txBody>
      </p:sp>
      <p:sp>
        <p:nvSpPr>
          <p:cNvPr id="198" name="Nehézségek és megoldásuk"/>
          <p:cNvSpPr txBox="1"/>
          <p:nvPr/>
        </p:nvSpPr>
        <p:spPr>
          <a:xfrm>
            <a:off x="14033500" y="6831863"/>
            <a:ext cx="10038982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600"/>
            </a:lvl1pPr>
          </a:lstStyle>
          <a:p>
            <a:pPr/>
            <a:r>
              <a:t>Nehézségek és megoldásuk</a:t>
            </a:r>
          </a:p>
        </p:txBody>
      </p:sp>
      <p:sp>
        <p:nvSpPr>
          <p:cNvPr id="199" name="Erős osztály-egyensúlytalanság…"/>
          <p:cNvSpPr txBox="1"/>
          <p:nvPr/>
        </p:nvSpPr>
        <p:spPr>
          <a:xfrm>
            <a:off x="14033500" y="7742204"/>
            <a:ext cx="8140204" cy="4789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Erős osztály-egyensúlytalanság</a:t>
            </a:r>
          </a:p>
          <a:p>
            <a:pPr lvl="1" marL="1066800" indent="-457200">
              <a:lnSpc>
                <a:spcPct val="100000"/>
              </a:lnSpc>
              <a:spcBef>
                <a:spcPts val="1000"/>
              </a:spcBef>
              <a:buSzPct val="40000"/>
              <a:buBlip>
                <a:blip r:embed="rId3"/>
              </a:buBlip>
              <a:defRPr sz="3600"/>
            </a:pPr>
            <a:r>
              <a:t>speciális mintavételezés</a:t>
            </a:r>
          </a:p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kis objektumok</a:t>
            </a:r>
          </a:p>
          <a:p>
            <a:pPr lvl="1" marL="1066800" indent="-457200">
              <a:lnSpc>
                <a:spcPct val="100000"/>
              </a:lnSpc>
              <a:spcBef>
                <a:spcPts val="1000"/>
              </a:spcBef>
              <a:buSzPct val="40000"/>
              <a:buBlip>
                <a:blip r:embed="rId3"/>
              </a:buBlip>
              <a:defRPr sz="3600"/>
            </a:pPr>
            <a:r>
              <a:t>IoU és F2 használata accuracy helyett</a:t>
            </a:r>
          </a:p>
          <a:p>
            <a:pPr marL="609600" indent="-609600">
              <a:lnSpc>
                <a:spcPct val="100000"/>
              </a:lnSpc>
              <a:spcBef>
                <a:spcPts val="1000"/>
              </a:spcBef>
              <a:buSzPct val="123000"/>
              <a:buChar char="•"/>
              <a:defRPr sz="3600"/>
            </a:pPr>
            <a:r>
              <a:t>zajos annotációk</a:t>
            </a:r>
          </a:p>
          <a:p>
            <a:pPr lvl="1" marL="1066800" indent="-457200">
              <a:lnSpc>
                <a:spcPct val="100000"/>
              </a:lnSpc>
              <a:spcBef>
                <a:spcPts val="1000"/>
              </a:spcBef>
              <a:buSzPct val="40000"/>
              <a:buBlip>
                <a:blip r:embed="rId3"/>
              </a:buBlip>
              <a:defRPr sz="3600"/>
            </a:pPr>
            <a:r>
              <a:t>adatbázis tisztítás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redmények és ezek kiértékelése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Eredmények és ezek kiértékelése</a:t>
            </a:r>
          </a:p>
        </p:txBody>
      </p:sp>
      <p:graphicFrame>
        <p:nvGraphicFramePr>
          <p:cNvPr id="202" name="Table 1"/>
          <p:cNvGraphicFramePr/>
          <p:nvPr/>
        </p:nvGraphicFramePr>
        <p:xfrm>
          <a:off x="766706" y="2736344"/>
          <a:ext cx="23353812" cy="8256012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3003941"/>
                <a:gridCol w="4436799"/>
                <a:gridCol w="4076604"/>
                <a:gridCol w="4058324"/>
                <a:gridCol w="3055672"/>
                <a:gridCol w="4219245"/>
              </a:tblGrid>
              <a:tr h="274777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U-Net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CNN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Mask R-CNN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SAM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Random Forest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929292"/>
                    </a:solidFill>
                  </a:tcPr>
                </a:tc>
              </a:tr>
              <a:tr h="274777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eredmények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r>
                        <a:rPr i="1"/>
                        <a:t>IoU</a:t>
                      </a:r>
                      <a:r>
                        <a:t> = ~ 0.45</a:t>
                      </a:r>
                    </a:p>
                    <a:p>
                      <a:pPr defTabSz="914400">
                        <a:defRPr sz="3200"/>
                      </a:pPr>
                      <a:r>
                        <a:rPr i="1"/>
                        <a:t>F2 score</a:t>
                      </a:r>
                      <a:r>
                        <a:t> = ~ 0.65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accuracy = 0.89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r>
                        <a:rPr i="1"/>
                        <a:t>F2</a:t>
                      </a:r>
                      <a:r>
                        <a:t> score = 0.08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r>
                        <a:rPr i="1"/>
                        <a:t>IoU</a:t>
                      </a:r>
                      <a:r>
                        <a:t> = 0.03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accuracy = 0.74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74777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megfigyelések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jó alak és pozíció felismerés egyszerűbb képeken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r>
                        <a:t>megbízható </a:t>
                      </a:r>
                      <a:r>
                        <a:rPr i="1"/>
                        <a:t>ship / no-ship</a:t>
                      </a:r>
                      <a:r>
                        <a:t> predikció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gyenge detektálás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inkonzisztens maszkok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viszonylag jó ship / no ship predikció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MO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DEMO</a:t>
            </a:r>
          </a:p>
        </p:txBody>
      </p:sp>
      <p:grpSp>
        <p:nvGrpSpPr>
          <p:cNvPr id="213" name="Group"/>
          <p:cNvGrpSpPr/>
          <p:nvPr/>
        </p:nvGrpSpPr>
        <p:grpSpPr>
          <a:xfrm>
            <a:off x="1097704" y="2487066"/>
            <a:ext cx="22188591" cy="10519399"/>
            <a:chOff x="0" y="0"/>
            <a:chExt cx="22188589" cy="10519397"/>
          </a:xfrm>
        </p:grpSpPr>
        <p:pic>
          <p:nvPicPr>
            <p:cNvPr id="205" name="ce7b04cf-0714-48ac-a7be-01b17aad9cf6.png" descr="ce7b04cf-0714-48ac-a7be-01b17aad9cf6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5015371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06" name="0e1b5832-1496-4dc1-a9be-5735020b87a3.png" descr="0e1b5832-1496-4dc1-a9be-5735020b87a3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724406" y="0"/>
              <a:ext cx="5015372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07" name="84796e5e-ad59-4acf-8657-c8be56177f0e.png" descr="84796e5e-ad59-4acf-8657-c8be56177f0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1448812" y="0"/>
              <a:ext cx="5015372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08" name="04057ecc-70bd-4430-a894-72153e8bf470.png" descr="04057ecc-70bd-4430-a894-72153e8bf470.png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0" b="0"/>
            <a:stretch>
              <a:fillRect/>
            </a:stretch>
          </p:blipFill>
          <p:spPr>
            <a:xfrm>
              <a:off x="17173218" y="0"/>
              <a:ext cx="5015372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09" name="13f6e56e-83e2-4358-b5a4-fa14e72e222a.png" descr="13f6e56e-83e2-4358-b5a4-fa14e72e222a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5504026"/>
              <a:ext cx="5015371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10" name="a8269bb8-657e-42c3-b978-184029b36e34.png" descr="a8269bb8-657e-42c3-b978-184029b36e34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1448812" y="5504026"/>
              <a:ext cx="5015372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11" name="a3efffb7-26cf-455d-a873-d85be7519c04.png" descr="a3efffb7-26cf-455d-a873-d85be7519c04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5724406" y="5504026"/>
              <a:ext cx="5015372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  <p:pic>
          <p:nvPicPr>
            <p:cNvPr id="212" name="68111f9d-d0a8-4a64-bdde-99c6d62fd048.png" descr="68111f9d-d0a8-4a64-bdde-99c6d62fd048.png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17173218" y="5504026"/>
              <a:ext cx="5015372" cy="501537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sx="100000" sy="100000" kx="0" ky="0" algn="b" rotWithShape="0" blurRad="254000" dist="127000" dir="5400000">
                <a:srgbClr val="000000">
                  <a:alpha val="70000"/>
                </a:srgbClr>
              </a:outerShdw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Összefoglalás"/>
          <p:cNvSpPr txBox="1"/>
          <p:nvPr>
            <p:ph type="title"/>
          </p:nvPr>
        </p:nvSpPr>
        <p:spPr>
          <a:xfrm>
            <a:off x="1206500" y="699945"/>
            <a:ext cx="21971000" cy="1433164"/>
          </a:xfrm>
          <a:prstGeom prst="rect">
            <a:avLst/>
          </a:prstGeom>
        </p:spPr>
        <p:txBody>
          <a:bodyPr/>
          <a:lstStyle>
            <a:lvl1pPr algn="ctr">
              <a:defRPr spc="-124" sz="6200"/>
            </a:lvl1pPr>
          </a:lstStyle>
          <a:p>
            <a:pPr/>
            <a:r>
              <a:t>Összefoglalás</a:t>
            </a:r>
          </a:p>
        </p:txBody>
      </p:sp>
      <p:sp>
        <p:nvSpPr>
          <p:cNvPr id="216" name="az U-Net alkalmas és hatékony megoldás a vizsgált feladatra…"/>
          <p:cNvSpPr txBox="1"/>
          <p:nvPr>
            <p:ph type="body" sz="half" idx="1"/>
          </p:nvPr>
        </p:nvSpPr>
        <p:spPr>
          <a:xfrm>
            <a:off x="810615" y="4702891"/>
            <a:ext cx="21971001" cy="4310218"/>
          </a:xfrm>
          <a:prstGeom prst="rect">
            <a:avLst/>
          </a:prstGeom>
        </p:spPr>
        <p:txBody>
          <a:bodyPr/>
          <a:lstStyle/>
          <a:p>
            <a:pPr marL="609599" indent="-609599">
              <a:defRPr sz="4000"/>
            </a:pPr>
            <a:r>
              <a:t>az U-Net alkalmas és hatékony megoldás a vizsgált feladatra</a:t>
            </a:r>
          </a:p>
          <a:p>
            <a:pPr marL="609599" indent="-609599">
              <a:defRPr sz="4000"/>
            </a:pPr>
            <a:r>
              <a:t>az adatok ellenőrzése kulcsfontosságú</a:t>
            </a:r>
          </a:p>
          <a:p>
            <a:pPr marL="609599" indent="-609599">
              <a:defRPr sz="4000"/>
            </a:pPr>
            <a:r>
              <a:t>teljesítményjavulás finomhangolással és architekturális bővítésekkel várható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